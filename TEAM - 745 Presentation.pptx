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8" r:id="rId1"/>
  </p:sldMasterIdLst>
  <p:notesMasterIdLst>
    <p:notesMasterId r:id="rId13"/>
  </p:notesMasterIdLst>
  <p:handoutMasterIdLst>
    <p:handoutMasterId r:id="rId14"/>
  </p:handoutMasterIdLst>
  <p:sldIdLst>
    <p:sldId id="291" r:id="rId2"/>
    <p:sldId id="305" r:id="rId3"/>
    <p:sldId id="297" r:id="rId4"/>
    <p:sldId id="299" r:id="rId5"/>
    <p:sldId id="282" r:id="rId6"/>
    <p:sldId id="301" r:id="rId7"/>
    <p:sldId id="298" r:id="rId8"/>
    <p:sldId id="303" r:id="rId9"/>
    <p:sldId id="304" r:id="rId10"/>
    <p:sldId id="302" r:id="rId11"/>
    <p:sldId id="296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82">
          <p15:clr>
            <a:srgbClr val="A4A3A4"/>
          </p15:clr>
        </p15:guide>
        <p15:guide id="2" orient="horz" pos="1614">
          <p15:clr>
            <a:srgbClr val="A4A3A4"/>
          </p15:clr>
        </p15:guide>
        <p15:guide id="3" pos="2880">
          <p15:clr>
            <a:srgbClr val="A4A3A4"/>
          </p15:clr>
        </p15:guide>
        <p15:guide id="4" pos="19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72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7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3146"/>
  </p:normalViewPr>
  <p:slideViewPr>
    <p:cSldViewPr snapToGrid="0" snapToObjects="1">
      <p:cViewPr varScale="1">
        <p:scale>
          <a:sx n="105" d="100"/>
          <a:sy n="105" d="100"/>
        </p:scale>
        <p:origin x="802" y="62"/>
      </p:cViewPr>
      <p:guideLst>
        <p:guide orient="horz" pos="2982"/>
        <p:guide orient="horz" pos="1614"/>
        <p:guide pos="2880"/>
        <p:guide pos="1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>
        <p:guide orient="horz" pos="372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Frutiger Next LT W1G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7C2776-B9DD-1946-9831-785CA23AC1F1}" type="datetime1">
              <a:rPr lang="en-US" smtClean="0">
                <a:latin typeface="Frutiger Next LT W1G" pitchFamily="34" charset="0"/>
              </a:rPr>
              <a:t>3/27/2026</a:t>
            </a:fld>
            <a:endParaRPr lang="en-US" dirty="0">
              <a:latin typeface="Frutiger Next LT W1G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Frutiger Next LT W1G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CB827-1CCB-B349-98A7-AAC485CBB65F}" type="slidenum">
              <a:rPr lang="en-US" smtClean="0">
                <a:latin typeface="Frutiger Next LT W1G" pitchFamily="34" charset="0"/>
              </a:rPr>
              <a:t>‹#›</a:t>
            </a:fld>
            <a:endParaRPr lang="en-US" dirty="0">
              <a:latin typeface="Frutiger Next LT W1G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5217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utiger Next LT W1G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utiger Next LT W1G" pitchFamily="34" charset="0"/>
              </a:defRPr>
            </a:lvl1pPr>
          </a:lstStyle>
          <a:p>
            <a:fld id="{13A1C7DD-7A43-8947-A922-8561F0BA9BCC}" type="datetime1">
              <a:rPr lang="en-US" smtClean="0"/>
              <a:pPr/>
              <a:t>3/27/2026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8688" y="569913"/>
            <a:ext cx="4938712" cy="2779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799" y="4056995"/>
            <a:ext cx="5985258" cy="440120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85799" y="8798011"/>
            <a:ext cx="2971800" cy="3444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utiger Next LT W1G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277228" y="8798011"/>
            <a:ext cx="393829" cy="3444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utiger Next LT W1G" pitchFamily="34" charset="0"/>
              </a:defRPr>
            </a:lvl1pPr>
          </a:lstStyle>
          <a:p>
            <a:fld id="{73E9330B-B1DA-214B-A229-0CB8492B91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7710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571117" rtl="0" eaLnBrk="1" latinLnBrk="0" hangingPunct="1">
      <a:spcBef>
        <a:spcPts val="600"/>
      </a:spcBef>
      <a:defRPr sz="1000" kern="1200">
        <a:solidFill>
          <a:schemeClr val="tx1"/>
        </a:solidFill>
        <a:latin typeface="Frutiger Next LT W1G" pitchFamily="34" charset="0"/>
        <a:ea typeface="+mn-ea"/>
        <a:cs typeface="+mn-cs"/>
      </a:defRPr>
    </a:lvl1pPr>
    <a:lvl2pPr marL="395223" indent="-171422" algn="l" defTabSz="571117" rtl="0" eaLnBrk="1" latinLnBrk="0" hangingPunct="1">
      <a:spcBef>
        <a:spcPts val="600"/>
      </a:spcBef>
      <a:buFont typeface="Arial" pitchFamily="34" charset="0"/>
      <a:buChar char="•"/>
      <a:defRPr sz="1000" kern="1200">
        <a:solidFill>
          <a:schemeClr val="tx1"/>
        </a:solidFill>
        <a:latin typeface="Frutiger Next LT W1G" pitchFamily="34" charset="0"/>
        <a:ea typeface="+mn-ea"/>
        <a:cs typeface="+mn-cs"/>
      </a:defRPr>
    </a:lvl2pPr>
    <a:lvl3pPr marL="630134" indent="-171422" algn="l" defTabSz="571117" rtl="0" eaLnBrk="1" latinLnBrk="0" hangingPunct="1">
      <a:spcBef>
        <a:spcPts val="600"/>
      </a:spcBef>
      <a:buFont typeface="Arial" pitchFamily="34" charset="0"/>
      <a:buChar char="•"/>
      <a:defRPr sz="1000" kern="1200">
        <a:solidFill>
          <a:schemeClr val="tx1"/>
        </a:solidFill>
        <a:latin typeface="Frutiger Next LT W1G" pitchFamily="34" charset="0"/>
        <a:ea typeface="+mn-ea"/>
        <a:cs typeface="+mn-cs"/>
      </a:defRPr>
    </a:lvl3pPr>
    <a:lvl4pPr marL="852347" indent="-171422" algn="l" defTabSz="571117" rtl="0" eaLnBrk="1" latinLnBrk="0" hangingPunct="1">
      <a:spcBef>
        <a:spcPts val="600"/>
      </a:spcBef>
      <a:buFont typeface="Arial" pitchFamily="34" charset="0"/>
      <a:buChar char="•"/>
      <a:defRPr sz="1000" kern="1200">
        <a:solidFill>
          <a:schemeClr val="tx1"/>
        </a:solidFill>
        <a:latin typeface="Frutiger Next LT W1G" pitchFamily="34" charset="0"/>
        <a:ea typeface="+mn-ea"/>
        <a:cs typeface="+mn-cs"/>
      </a:defRPr>
    </a:lvl4pPr>
    <a:lvl5pPr marL="1087258" indent="-171422" algn="l" defTabSz="571117" rtl="0" eaLnBrk="1" latinLnBrk="0" hangingPunct="1">
      <a:spcBef>
        <a:spcPts val="600"/>
      </a:spcBef>
      <a:buFont typeface="Arial" pitchFamily="34" charset="0"/>
      <a:buChar char="•"/>
      <a:defRPr sz="1000" kern="1200">
        <a:solidFill>
          <a:schemeClr val="tx1"/>
        </a:solidFill>
        <a:latin typeface="Frutiger Next LT W1G" pitchFamily="34" charset="0"/>
        <a:ea typeface="+mn-ea"/>
        <a:cs typeface="+mn-cs"/>
      </a:defRPr>
    </a:lvl5pPr>
    <a:lvl6pPr marL="2855583" algn="l" defTabSz="571117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26699" algn="l" defTabSz="571117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997816" algn="l" defTabSz="571117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68932" algn="l" defTabSz="571117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8688" y="569913"/>
            <a:ext cx="4938712" cy="2779712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77331" y="4343400"/>
            <a:ext cx="5795318" cy="4454611"/>
          </a:xfrm>
        </p:spPr>
        <p:txBody>
          <a:bodyPr/>
          <a:lstStyle/>
          <a:p>
            <a:pPr>
              <a:spcBef>
                <a:spcPts val="0"/>
              </a:spcBef>
            </a:pPr>
            <a:endParaRPr lang="en-US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9330B-B1DA-214B-A229-0CB8492B91A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406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9330B-B1DA-214B-A229-0CB8492B91A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767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8688" y="569913"/>
            <a:ext cx="4938712" cy="2779712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57111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Bottom Up- </a:t>
            </a:r>
            <a:r>
              <a:rPr lang="en-IN" sz="1000" dirty="0">
                <a:solidFill>
                  <a:srgbClr val="222222"/>
                </a:solidFill>
                <a:latin typeface="Artifakt ElementOfc" panose="020B0504020101020102" pitchFamily="34" charset="77"/>
                <a:cs typeface="Artifakt ElementOfc" panose="020B0504020101020102" pitchFamily="34" charset="77"/>
              </a:rPr>
              <a:t>With bottom-up approach users start to design a product by detailing its low-level component. These components are then grouped into higher-level components. The process is continued until the very top component is corresponding to the product</a:t>
            </a:r>
            <a:endParaRPr lang="en-US" sz="1000" dirty="0">
              <a:latin typeface="Artifakt ElementOfc" panose="020B0504020101020102" pitchFamily="34" charset="77"/>
              <a:cs typeface="Artifakt ElementOfc" panose="020B0504020101020102" pitchFamily="34" charset="77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9330B-B1DA-214B-A229-0CB8492B91A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379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</a:t>
            </a:r>
            <a:r>
              <a:rPr lang="en-US" baseline="0" dirty="0"/>
              <a:t> names with Render Images and its working</a:t>
            </a:r>
          </a:p>
          <a:p>
            <a:r>
              <a:rPr lang="en-US" baseline="0" dirty="0"/>
              <a:t>Include your innovation and creative in this area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9330B-B1DA-214B-A229-0CB8492B91A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920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9330B-B1DA-214B-A229-0CB8492B91A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622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8688" y="569913"/>
            <a:ext cx="4938712" cy="2779712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E9330B-B1DA-214B-A229-0CB8492B91A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075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0487-7BDE-8F66-1D14-FE2EC33B7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3620F-5CEF-87D0-3308-D935D0735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D365E-98FB-382D-4735-A1778F171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B44C-5527-4526-B357-6A14CC689B6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8A77A-54FE-DB31-AB58-A179F7980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71410-6358-0435-6FD9-1BDEDA8F3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F9B-F55D-4109-99A1-4D747193C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956718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E9354-C660-D0F7-EA2E-62B20A4D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11840"/>
            <a:ext cx="7886700" cy="6561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793FE-3762-F495-CC9F-7EDB89AE6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7932B-AF06-F515-C421-43B9CAD7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B44C-5527-4526-B357-6A14CC689B6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28326-0A93-E3F1-EB64-E0254052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7426B-6BEF-2E17-DF6B-FE103EFF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F9B-F55D-4109-99A1-4D747193C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683292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9C47A-5523-4C8B-02AE-B1002023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98320-24CA-E81C-C51B-7E1E59046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5F9D2-5F16-116A-18EF-FE411B3C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B44C-5527-4526-B357-6A14CC689B6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8B7C9-D46F-D995-0F51-C1667581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9BDD9-5CD5-E947-0001-82472C023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F9B-F55D-4109-99A1-4D747193C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046661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39BFA-D845-6E8E-5049-48494CB79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32012"/>
            <a:ext cx="7886700" cy="63600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3EEBB-19F6-10BD-4152-2015051F3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1DFAB-54A2-0C05-1482-60DF816FC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EF770-05CD-D6F7-368E-5680E856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B44C-5527-4526-B357-6A14CC689B6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F4EC3-67EE-59C8-A4DE-8D7BF9F8F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6EF94-54D4-3EC0-7CCE-BE3D1E6DB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F9B-F55D-4109-99A1-4D747193C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028275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7A88-DB17-A291-7BFF-9EDFDF206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650080"/>
            <a:ext cx="7886700" cy="6179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A7566-FE19-16AC-3FF4-54DBD1F28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7506A-644E-15E9-49F3-25F1DC390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EC0B88-626D-BB8A-1A96-C489A4BB03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8FBE90-1173-3290-F75D-12D937CAF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CE602-F891-2BF3-1EDB-01B8D917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B44C-5527-4526-B357-6A14CC689B6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8EE3E-6E45-772D-D2B0-D59891872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374D9-619F-2B3D-A2C5-F54805A7C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F9B-F55D-4109-99A1-4D747193C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760111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E488-D603-D6B2-5F9A-4FD67570A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65628"/>
            <a:ext cx="7886700" cy="6023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F897DC-BE61-DAD5-4C44-497C92DB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B44C-5527-4526-B357-6A14CC689B6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8D2CCE-D76D-A414-F9DE-473033DCC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39E9F-FD51-ED18-3B04-38524642F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F9B-F55D-4109-99A1-4D747193C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97453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CAF2D2-C7C0-12FC-7921-0E7B8392D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B44C-5527-4526-B357-6A14CC689B6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1FA5B9-DAD4-DDC7-37AF-83231EEA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7F12E-AEE7-6EFF-7E0F-0116FA47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F9B-F55D-4109-99A1-4D747193C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901689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0C554-032D-7D9F-AF4C-49617B952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740568"/>
            <a:ext cx="2949178" cy="80248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88E91-C740-3590-CD26-57CFCAA47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DF70B-0D18-DFAC-1DB4-9662B1DE8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83289-2F38-D432-40C8-2063F9BB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B44C-5527-4526-B357-6A14CC689B6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508E0-A8B7-0C0A-63C5-BA03EFF0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25484-CB7C-B553-7C42-715A8DCF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F9B-F55D-4109-99A1-4D747193C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106691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8BFC-AD50-5A9B-C9A5-3EBD8E565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123D23-35B8-E37A-270D-B2DDB44EB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52C03-620B-3AD4-7747-678DE3857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50954-DAF4-BF41-2EA6-F96BCA043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B44C-5527-4526-B357-6A14CC689B6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B3A9A-2539-2BE2-C5A6-AEE2E615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02BBF-2095-31A2-4E68-A868D735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F9B-F55D-4109-99A1-4D747193C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768744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3501-235E-4015-0270-809BACC44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58906"/>
            <a:ext cx="7886700" cy="6091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B9994-B873-4A02-8DDE-C67218A69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900D7-36C8-2B2B-F0FD-29F691BA0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B44C-5527-4526-B357-6A14CC689B6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946D8-BA15-515F-FA90-1B0029259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76FE4-2D40-A217-4B7B-71FB65781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F9B-F55D-4109-99A1-4D747193C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04869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8DB42E-1C8E-756E-AF43-8E9F89E85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8E07A-A80E-C659-E7B8-F38CB63FC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79898-E0F4-BE88-26AE-EF81391BA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3B44C-5527-4526-B357-6A14CC689B6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411B3-AFFE-E851-81A8-8DB56C8C3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8EB41-7B3A-9EC4-3B4F-99D05234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F9B-F55D-4109-99A1-4D747193CC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028170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2A6849-B37B-83BA-4076-AC25F820577C}"/>
              </a:ext>
            </a:extLst>
          </p:cNvPr>
          <p:cNvSpPr/>
          <p:nvPr userDrawn="1"/>
        </p:nvSpPr>
        <p:spPr>
          <a:xfrm>
            <a:off x="0" y="1514475"/>
            <a:ext cx="9129824" cy="2324100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57594" tIns="28797" rIns="57594" bIns="28797" rtlCol="0" anchor="ctr"/>
          <a:lstStyle/>
          <a:p>
            <a:pPr algn="ctr"/>
            <a:endParaRPr lang="en-US" dirty="0">
              <a:latin typeface="Frutiger Next LT W1G" pitchFamily="34" charset="0"/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26895" y="5735797"/>
            <a:ext cx="9156719" cy="320040"/>
          </a:xfrm>
          <a:prstGeom prst="rect">
            <a:avLst/>
          </a:prstGeom>
          <a:gradFill flip="none" rotWithShape="1">
            <a:gsLst>
              <a:gs pos="8000">
                <a:schemeClr val="accent1">
                  <a:alpha val="20000"/>
                </a:schemeClr>
              </a:gs>
              <a:gs pos="64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utiger Next LT W1G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28614" y="2796527"/>
            <a:ext cx="5397356" cy="2904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600" b="0" baseline="0">
                <a:solidFill>
                  <a:schemeClr val="tx1"/>
                </a:solidFill>
                <a:latin typeface="Artifakt Element" charset="0"/>
                <a:ea typeface="Artifakt Element" charset="0"/>
                <a:cs typeface="Artifakt Element" charset="0"/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328613" y="3086969"/>
            <a:ext cx="5397358" cy="23641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300" b="0" baseline="0">
                <a:solidFill>
                  <a:schemeClr val="tx1"/>
                </a:solidFill>
                <a:latin typeface="Artifakt Element" charset="0"/>
                <a:ea typeface="Artifakt Element" charset="0"/>
                <a:cs typeface="Artifakt Element" charset="0"/>
              </a:defRPr>
            </a:lvl1pPr>
          </a:lstStyle>
          <a:p>
            <a:pPr lvl="0"/>
            <a:r>
              <a:rPr lang="en-US" dirty="0"/>
              <a:t>Presenter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8613" y="1905000"/>
            <a:ext cx="8801211" cy="78497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2700" b="1" baseline="0">
                <a:solidFill>
                  <a:schemeClr val="tx1"/>
                </a:solidFill>
                <a:latin typeface="Artifakt Legend" charset="0"/>
                <a:ea typeface="Artifakt Legend" charset="0"/>
                <a:cs typeface="Artifakt Legend" charset="0"/>
              </a:defRPr>
            </a:lvl1pPr>
          </a:lstStyle>
          <a:p>
            <a:r>
              <a:rPr lang="en-US" sz="2800" dirty="0"/>
              <a:t>Main title can extend over one </a:t>
            </a:r>
            <a:br>
              <a:rPr lang="en-US" sz="2800" dirty="0"/>
            </a:br>
            <a:r>
              <a:rPr lang="en-US" sz="2800" dirty="0"/>
              <a:t>or two lines</a:t>
            </a:r>
          </a:p>
        </p:txBody>
      </p:sp>
      <p:sp>
        <p:nvSpPr>
          <p:cNvPr id="8" name="AutoShape 10" descr="Logo | Autodesk Brand Hub">
            <a:extLst>
              <a:ext uri="{FF2B5EF4-FFF2-40B4-BE49-F238E27FC236}">
                <a16:creationId xmlns:a16="http://schemas.microsoft.com/office/drawing/2014/main" id="{286806D2-19CE-8AC9-BDF4-1341277F67EC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5408CA-73B8-A214-8AF5-52AEFE0FEC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97124" y="5241217"/>
            <a:ext cx="2146876" cy="1206544"/>
          </a:xfrm>
          <a:prstGeom prst="rect">
            <a:avLst/>
          </a:prstGeom>
        </p:spPr>
      </p:pic>
      <p:pic>
        <p:nvPicPr>
          <p:cNvPr id="2064" name="Picture 16" descr="Fusion 360 | ECAD, Inc.">
            <a:extLst>
              <a:ext uri="{FF2B5EF4-FFF2-40B4-BE49-F238E27FC236}">
                <a16:creationId xmlns:a16="http://schemas.microsoft.com/office/drawing/2014/main" id="{16E0C824-C490-F5ED-4218-89862181C1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83" y="5677302"/>
            <a:ext cx="2141104" cy="427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524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(1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1156447"/>
            <a:ext cx="8229644" cy="3482246"/>
          </a:xfrm>
          <a:prstGeom prst="rect">
            <a:avLst/>
          </a:prstGeom>
        </p:spPr>
        <p:txBody>
          <a:bodyPr lIns="73152" tIns="0" rIns="0" bIns="0">
            <a:noAutofit/>
          </a:bodyPr>
          <a:lstStyle>
            <a:lvl1pPr marL="411480" indent="-411480">
              <a:buClr>
                <a:schemeClr val="tx1"/>
              </a:buClr>
              <a:buSzPct val="100000"/>
              <a:buFont typeface="Wingdings" charset="2"/>
              <a:buChar char="§"/>
              <a:defRPr sz="2600" b="0">
                <a:solidFill>
                  <a:schemeClr val="tx2"/>
                </a:solidFill>
                <a:latin typeface="Artifakt Element" charset="0"/>
                <a:ea typeface="Artifakt Element" charset="0"/>
                <a:cs typeface="Artifakt Element" charset="0"/>
              </a:defRPr>
            </a:lvl1pPr>
            <a:lvl2pPr marL="831936" indent="-287974">
              <a:buClr>
                <a:schemeClr val="tx1"/>
              </a:buClr>
              <a:buSzPct val="100000"/>
              <a:buFont typeface="Wingdings" charset="2"/>
              <a:buChar char="§"/>
              <a:defRPr sz="2200" b="0">
                <a:solidFill>
                  <a:schemeClr val="tx2"/>
                </a:solidFill>
                <a:latin typeface="Artifakt Element" charset="0"/>
                <a:ea typeface="Artifakt Element" charset="0"/>
                <a:cs typeface="Artifakt Element" charset="0"/>
              </a:defRPr>
            </a:lvl2pPr>
            <a:lvl3pPr marL="1279901" indent="-259176">
              <a:buClr>
                <a:schemeClr val="tx1"/>
              </a:buClr>
              <a:buSzPct val="100000"/>
              <a:buFont typeface="Wingdings" charset="2"/>
              <a:buChar char="§"/>
              <a:defRPr sz="2000" b="0">
                <a:solidFill>
                  <a:schemeClr val="tx2"/>
                </a:solidFill>
                <a:latin typeface="Artifakt Element" charset="0"/>
                <a:ea typeface="Artifakt Element" charset="0"/>
                <a:cs typeface="Artifakt Element" charset="0"/>
              </a:defRPr>
            </a:lvl3pPr>
            <a:lvl4pPr marL="1791862" indent="-230379">
              <a:buClr>
                <a:schemeClr val="tx1"/>
              </a:buClr>
              <a:buSzPct val="100000"/>
              <a:buFont typeface="Wingdings" charset="2"/>
              <a:buChar char="§"/>
              <a:defRPr sz="1800" b="0">
                <a:solidFill>
                  <a:schemeClr val="tx2"/>
                </a:solidFill>
                <a:latin typeface="Artifakt Element" charset="0"/>
                <a:ea typeface="Artifakt Element" charset="0"/>
                <a:cs typeface="Artifakt Element" charset="0"/>
              </a:defRPr>
            </a:lvl4pPr>
            <a:lvl5pPr marL="2303821" indent="-201582">
              <a:buClr>
                <a:schemeClr val="tx1"/>
              </a:buClr>
              <a:buSzPct val="100000"/>
              <a:buFont typeface="Wingdings" charset="2"/>
              <a:buChar char="§"/>
              <a:defRPr sz="1600" b="0">
                <a:solidFill>
                  <a:schemeClr val="tx2"/>
                </a:solidFill>
                <a:latin typeface="Artifakt Element" charset="0"/>
                <a:ea typeface="Artifakt Element" charset="0"/>
                <a:cs typeface="Artifakt Elemen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1" y="605117"/>
            <a:ext cx="8229600" cy="45811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Artifakt Legend" charset="0"/>
                <a:ea typeface="Artifakt Legend" charset="0"/>
                <a:cs typeface="Artifakt Legend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3248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A91315-897F-7D55-B236-C39386C279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2796" y="948018"/>
            <a:ext cx="5270454" cy="296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59027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5287"/>
            <a:ext cx="8229600" cy="5782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rtifakt Legend" charset="0"/>
                <a:ea typeface="Artifakt Legend" charset="0"/>
                <a:cs typeface="Artifakt Legend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839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mage Full Screen with Credi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50241" y="4353913"/>
            <a:ext cx="8779099" cy="26144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buNone/>
              <a:defRPr lang="en-US" sz="800" smtClean="0">
                <a:solidFill>
                  <a:schemeClr val="bg2">
                    <a:lumMod val="50000"/>
                  </a:schemeClr>
                </a:solidFill>
                <a:latin typeface="Artifakt Element" charset="0"/>
                <a:ea typeface="Artifakt Element" charset="0"/>
                <a:cs typeface="Artifakt Element" charset="0"/>
              </a:defRPr>
            </a:lvl1pPr>
          </a:lstStyle>
          <a:p>
            <a:pPr lvl="0"/>
            <a:r>
              <a:rPr lang="en-US" dirty="0"/>
              <a:t>Insert image credit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3933662" y="528147"/>
            <a:ext cx="1212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tifakt Legend" charset="0"/>
                <a:ea typeface="Artifakt Legend" charset="0"/>
                <a:cs typeface="Artifakt Legend" charset="0"/>
              </a:rPr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91508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63F479-667D-9F11-5E9A-BFB73635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28505-9E2A-9D44-0FD0-9427FE5D6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3AB165-9B44-B613-42C2-E53EDC311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3B44C-5527-4526-B357-6A14CC689B62}" type="datetimeFigureOut">
              <a:rPr lang="en-IN" smtClean="0"/>
              <a:t>27/03/2026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DBAFC-4157-373E-F6FD-519A6DA02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0049C-24E6-DBCC-65BC-EC4D6664C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88F9B-F55D-4109-99A1-4D747193CC4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B36CFD-34FC-309D-9F7A-DFE5B088D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6408" b="-71"/>
          <a:stretch/>
        </p:blipFill>
        <p:spPr>
          <a:xfrm rot="5400000">
            <a:off x="2043300" y="-1976818"/>
            <a:ext cx="5143502" cy="91425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B068749-0F17-1D6C-EE7E-21AE0B41B1D7}"/>
              </a:ext>
            </a:extLst>
          </p:cNvPr>
          <p:cNvSpPr/>
          <p:nvPr userDrawn="1"/>
        </p:nvSpPr>
        <p:spPr>
          <a:xfrm>
            <a:off x="24493" y="4747404"/>
            <a:ext cx="9156719" cy="320040"/>
          </a:xfrm>
          <a:prstGeom prst="rect">
            <a:avLst/>
          </a:prstGeom>
          <a:gradFill flip="none" rotWithShape="1">
            <a:gsLst>
              <a:gs pos="8000">
                <a:schemeClr val="accent1">
                  <a:alpha val="20000"/>
                </a:schemeClr>
              </a:gs>
              <a:gs pos="64000">
                <a:schemeClr val="bg1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rutiger Next LT W1G" pitchFamily="34" charset="0"/>
            </a:endParaRPr>
          </a:p>
        </p:txBody>
      </p:sp>
      <p:pic>
        <p:nvPicPr>
          <p:cNvPr id="10" name="Picture 4" descr="ICT Academy - Wikipedia">
            <a:extLst>
              <a:ext uri="{FF2B5EF4-FFF2-40B4-BE49-F238E27FC236}">
                <a16:creationId xmlns:a16="http://schemas.microsoft.com/office/drawing/2014/main" id="{F99F27DE-D946-50A3-D5EC-3D7EE63C5A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0379" y="170917"/>
            <a:ext cx="900001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3C6F9B-2EB3-63F0-8FD2-7065829B72DC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7203227" y="4308903"/>
            <a:ext cx="2146876" cy="1206544"/>
          </a:xfrm>
          <a:prstGeom prst="rect">
            <a:avLst/>
          </a:prstGeom>
        </p:spPr>
      </p:pic>
      <p:pic>
        <p:nvPicPr>
          <p:cNvPr id="23" name="Picture 2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E2D2710-E32C-9393-8424-143B513C2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/>
          <a:srcRect r="23361"/>
          <a:stretch/>
        </p:blipFill>
        <p:spPr>
          <a:xfrm>
            <a:off x="384042" y="4731484"/>
            <a:ext cx="1080000" cy="3893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AF59DBE-2ACD-969C-3675-02646E71F087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241756" y="132250"/>
            <a:ext cx="900000" cy="41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019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2" r:id="rId13"/>
    <p:sldLayoutId id="2147483713" r:id="rId14"/>
    <p:sldLayoutId id="2147483694" r:id="rId15"/>
    <p:sldLayoutId id="2147483692" r:id="rId16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Artifakt Legend" charset="0"/>
                <a:ea typeface="Artifakt Legend" charset="0"/>
                <a:cs typeface="Artifakt Legend" charset="0"/>
              </a:rPr>
              <a:t>India Design Week 2026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CHALLENGING, INSPIRING &amp; FUTURISTIC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rtifakt Legend" charset="0"/>
              <a:ea typeface="Artifakt Legend" charset="0"/>
              <a:cs typeface="Artifakt Lege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62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0B1E76-B072-0FD0-3D40-E775E16A8D94}"/>
              </a:ext>
            </a:extLst>
          </p:cNvPr>
          <p:cNvSpPr/>
          <p:nvPr/>
        </p:nvSpPr>
        <p:spPr>
          <a:xfrm>
            <a:off x="0" y="1514475"/>
            <a:ext cx="9144000" cy="2324100"/>
          </a:xfrm>
          <a:prstGeom prst="rect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57594" tIns="28797" rIns="57594" bIns="28797" rtlCol="0" anchor="ctr"/>
          <a:lstStyle/>
          <a:p>
            <a:pPr algn="ctr"/>
            <a:endParaRPr lang="en-US" dirty="0">
              <a:latin typeface="Frutiger Next LT W1G" pitchFamily="34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21DDF44-E5E3-FFA8-E211-CF3CAD1F4F8E}"/>
              </a:ext>
            </a:extLst>
          </p:cNvPr>
          <p:cNvSpPr txBox="1">
            <a:spLocks/>
          </p:cNvSpPr>
          <p:nvPr/>
        </p:nvSpPr>
        <p:spPr>
          <a:xfrm>
            <a:off x="285694" y="1460238"/>
            <a:ext cx="8572611" cy="22230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ts val="3000"/>
              </a:lnSpc>
              <a:spcBef>
                <a:spcPts val="0"/>
              </a:spcBef>
              <a:buNone/>
              <a:defRPr sz="2700" b="1" kern="1200" baseline="0">
                <a:solidFill>
                  <a:schemeClr val="tx1"/>
                </a:solidFill>
                <a:latin typeface="Artifakt Legend" charset="0"/>
                <a:ea typeface="Artifakt Legend" charset="0"/>
                <a:cs typeface="Artifakt Legend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Team ID &amp; Project Name</a:t>
            </a:r>
          </a:p>
          <a:p>
            <a:endParaRPr lang="en-US" sz="2800" b="0" dirty="0"/>
          </a:p>
          <a:p>
            <a:r>
              <a:rPr lang="en-US" sz="2800" b="0" dirty="0"/>
              <a:t>TEAM – </a:t>
            </a:r>
            <a:r>
              <a:rPr lang="en-IN" b="0" dirty="0"/>
              <a:t>745 </a:t>
            </a:r>
          </a:p>
          <a:p>
            <a:r>
              <a:rPr lang="en-US" sz="2800" dirty="0">
                <a:latin typeface="Adobe Caslon Pro" panose="0205050205050A020403"/>
                <a:cs typeface="Arial" panose="020B0604020202020204" pitchFamily="34" charset="0"/>
              </a:rPr>
              <a:t>Modular Disaster-Relief Rescue Cart with Foldable Stretcher System</a:t>
            </a:r>
            <a:br>
              <a:rPr lang="en-US" sz="2800" dirty="0">
                <a:latin typeface="Adobe Caslon Pro" panose="0205050205050A020403"/>
                <a:cs typeface="Arial" panose="020B0604020202020204" pitchFamily="34" charset="0"/>
              </a:rPr>
            </a:br>
            <a:endParaRPr lang="en-IN" b="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8044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7F2ED-92DA-0F48-9CC2-67A0E236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56" y="568444"/>
            <a:ext cx="8229600" cy="360470"/>
          </a:xfrm>
        </p:spPr>
        <p:txBody>
          <a:bodyPr/>
          <a:lstStyle/>
          <a:p>
            <a:r>
              <a:rPr lang="en-US" dirty="0"/>
              <a:t>Objectives and Goals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7FEAC59-E696-2C49-75FB-5EA9A21F96C2}"/>
              </a:ext>
            </a:extLst>
          </p:cNvPr>
          <p:cNvSpPr txBox="1">
            <a:spLocks/>
          </p:cNvSpPr>
          <p:nvPr/>
        </p:nvSpPr>
        <p:spPr>
          <a:xfrm>
            <a:off x="457112" y="1171553"/>
            <a:ext cx="8229644" cy="3482246"/>
          </a:xfrm>
          <a:prstGeom prst="rect">
            <a:avLst/>
          </a:prstGeom>
        </p:spPr>
        <p:txBody>
          <a:bodyPr vert="horz" lIns="73152" tIns="0" rIns="0" bIns="0" rtlCol="0">
            <a:noAutofit/>
          </a:bodyPr>
          <a:lstStyle>
            <a:lvl1pPr marL="411480" indent="-41148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/>
              </a:buClr>
              <a:buSzPct val="100000"/>
              <a:buFont typeface="Wingdings" charset="2"/>
              <a:buChar char="§"/>
              <a:defRPr sz="2600" b="0" kern="1200">
                <a:solidFill>
                  <a:schemeClr val="tx2"/>
                </a:solidFill>
                <a:latin typeface="Artifakt Element" charset="0"/>
                <a:ea typeface="Artifakt Element" charset="0"/>
                <a:cs typeface="Artifakt Element" charset="0"/>
              </a:defRPr>
            </a:lvl1pPr>
            <a:lvl2pPr marL="831936" indent="-287974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/>
              </a:buClr>
              <a:buSzPct val="100000"/>
              <a:buFont typeface="Wingdings" charset="2"/>
              <a:buChar char="§"/>
              <a:defRPr sz="2200" b="0" kern="1200">
                <a:solidFill>
                  <a:schemeClr val="tx2"/>
                </a:solidFill>
                <a:latin typeface="Artifakt Element" charset="0"/>
                <a:ea typeface="Artifakt Element" charset="0"/>
                <a:cs typeface="Artifakt Element" charset="0"/>
              </a:defRPr>
            </a:lvl2pPr>
            <a:lvl3pPr marL="1279901" indent="-259176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/>
              </a:buClr>
              <a:buSzPct val="100000"/>
              <a:buFont typeface="Wingdings" charset="2"/>
              <a:buChar char="§"/>
              <a:defRPr sz="2000" b="0" kern="1200">
                <a:solidFill>
                  <a:schemeClr val="tx2"/>
                </a:solidFill>
                <a:latin typeface="Artifakt Element" charset="0"/>
                <a:ea typeface="Artifakt Element" charset="0"/>
                <a:cs typeface="Artifakt Element" charset="0"/>
              </a:defRPr>
            </a:lvl3pPr>
            <a:lvl4pPr marL="1791862" indent="-23037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/>
              </a:buClr>
              <a:buSzPct val="100000"/>
              <a:buFont typeface="Wingdings" charset="2"/>
              <a:buChar char="§"/>
              <a:defRPr sz="1800" b="0" kern="1200">
                <a:solidFill>
                  <a:schemeClr val="tx2"/>
                </a:solidFill>
                <a:latin typeface="Artifakt Element" charset="0"/>
                <a:ea typeface="Artifakt Element" charset="0"/>
                <a:cs typeface="Artifakt Element" charset="0"/>
              </a:defRPr>
            </a:lvl4pPr>
            <a:lvl5pPr marL="2303821" indent="-201582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tx1"/>
              </a:buClr>
              <a:buSzPct val="100000"/>
              <a:buFont typeface="Wingdings" charset="2"/>
              <a:buChar char="§"/>
              <a:defRPr sz="1600" b="0" kern="1200">
                <a:solidFill>
                  <a:schemeClr val="tx2"/>
                </a:solidFill>
                <a:latin typeface="Artifakt Element" charset="0"/>
                <a:ea typeface="Artifakt Element" charset="0"/>
                <a:cs typeface="Artifakt Element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/>
              <a:t>To design a lightweight and portable rescue cart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 enable easy transport of injured persons in rough terrain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 ensure quick assembly within limited time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 integrate stretcher, storage, and mobility in one system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To maintain strength while reducing overall weight 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6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F1EDD0-7549-204A-8164-F2C342542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87075"/>
            <a:ext cx="8229644" cy="348224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Maintaining stability on uneven surfaces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Keeping the structure lightweight and strong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Ensuring quick folding and assembly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Balancing load distribution (person + supplies) 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70959F-574C-6B4A-9CEC-589AD1A0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355735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DC63D5-BED2-0DE2-2A58-3D3F82077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79819"/>
            <a:ext cx="8229644" cy="348224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It combines a stretcher with a wheeled base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Includes a simple suspension system for shock absorption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Storage compartments are provided below the frame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Designed for disaster zones with limited access</a:t>
            </a:r>
          </a:p>
        </p:txBody>
      </p:sp>
    </p:spTree>
    <p:extLst>
      <p:ext uri="{BB962C8B-B14F-4D97-AF65-F5344CB8AC3E}">
        <p14:creationId xmlns:p14="http://schemas.microsoft.com/office/powerpoint/2010/main" val="361773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B743C9-4579-B64E-B5A0-5C714D0C8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57" y="1352390"/>
            <a:ext cx="8229644" cy="348224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Studied existing rescue and stretcher systems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Identified key requirements (mobility, strength, simplicity)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Created basic frame structure in Fusion 360Added suspension, storage, and folding legs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Finalized dimensions and materials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7640D-BA60-194E-B1A5-E257E870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Process</a:t>
            </a:r>
          </a:p>
        </p:txBody>
      </p:sp>
    </p:spTree>
    <p:extLst>
      <p:ext uri="{BB962C8B-B14F-4D97-AF65-F5344CB8AC3E}">
        <p14:creationId xmlns:p14="http://schemas.microsoft.com/office/powerpoint/2010/main" val="244496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7C3D7F-C121-574B-9AF2-A924BB221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265305"/>
            <a:ext cx="8229644" cy="348224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Carries injured person safely on stretcher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Spring suspension reduces shock and vibration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Storage boxes carry essential medical supplies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A1833F-33FF-0945-9A6C-2175ED1B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06871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F16779-9611-A341-9CB6-EF4673903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157737"/>
            <a:ext cx="8229644" cy="348224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Designed to support 120 kg load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Stable structure with wide wheelbase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Spring reduces shock and vibration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Strong and lightweight materials used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Safe and durable for rough conditions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59D128-1774-AC4B-988E-265CFE5A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reports</a:t>
            </a:r>
          </a:p>
        </p:txBody>
      </p:sp>
    </p:spTree>
    <p:extLst>
      <p:ext uri="{BB962C8B-B14F-4D97-AF65-F5344CB8AC3E}">
        <p14:creationId xmlns:p14="http://schemas.microsoft.com/office/powerpoint/2010/main" val="124397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FAC32A-F31A-C2EE-892D-05C148549E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614079"/>
              </p:ext>
            </p:extLst>
          </p:nvPr>
        </p:nvGraphicFramePr>
        <p:xfrm>
          <a:off x="744764" y="1275578"/>
          <a:ext cx="7886700" cy="2880360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236734094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423526687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862197319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402714120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2044299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S.No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Material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Cost (₹)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242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 Frame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Aluminum 6061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1500 – 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076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 Legs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Mild Steel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 – 700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947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Wheels (16–20 inch)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Rubber + Steel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097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Suspension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Spring Steel + Steel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600 – 900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48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 Boxes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Polypropylene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8415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Stretcher Fabric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Canvas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400 – 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711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Fasteners &amp; Joints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300 – 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713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 Grip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Rubber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 – 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81494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159D128-1774-AC4B-988E-265CFE5A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estimation</a:t>
            </a:r>
          </a:p>
        </p:txBody>
      </p:sp>
    </p:spTree>
    <p:extLst>
      <p:ext uri="{BB962C8B-B14F-4D97-AF65-F5344CB8AC3E}">
        <p14:creationId xmlns:p14="http://schemas.microsoft.com/office/powerpoint/2010/main" val="452293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odular Disaster-Relief Rescue Cart with Foldable Stretcher System">
            <a:hlinkClick r:id="" action="ppaction://media"/>
            <a:extLst>
              <a:ext uri="{FF2B5EF4-FFF2-40B4-BE49-F238E27FC236}">
                <a16:creationId xmlns:a16="http://schemas.microsoft.com/office/drawing/2014/main" id="{C940D32A-38F7-E5DA-387B-C7CD9BB4B6D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32497" y="1415143"/>
            <a:ext cx="8079005" cy="28956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159D128-1774-AC4B-988E-265CFE5A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doc, images, videos, &amp; Conceptional design </a:t>
            </a:r>
          </a:p>
        </p:txBody>
      </p:sp>
    </p:spTree>
    <p:extLst>
      <p:ext uri="{BB962C8B-B14F-4D97-AF65-F5344CB8AC3E}">
        <p14:creationId xmlns:p14="http://schemas.microsoft.com/office/powerpoint/2010/main" val="304418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9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127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369</Words>
  <Application>Microsoft Office PowerPoint</Application>
  <PresentationFormat>On-screen Show (16:9)</PresentationFormat>
  <Paragraphs>95</Paragraphs>
  <Slides>11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Adobe Caslon Pro</vt:lpstr>
      <vt:lpstr>Arial</vt:lpstr>
      <vt:lpstr>Artifakt Element</vt:lpstr>
      <vt:lpstr>Artifakt ElementOfc</vt:lpstr>
      <vt:lpstr>Artifakt Legend</vt:lpstr>
      <vt:lpstr>Calibri</vt:lpstr>
      <vt:lpstr>Calibri Light</vt:lpstr>
      <vt:lpstr>Frutiger Next LT W1G</vt:lpstr>
      <vt:lpstr>Wingdings</vt:lpstr>
      <vt:lpstr>Office Theme</vt:lpstr>
      <vt:lpstr>PowerPoint Presentation</vt:lpstr>
      <vt:lpstr>PowerPoint Presentation</vt:lpstr>
      <vt:lpstr>Objectives and Goals</vt:lpstr>
      <vt:lpstr>Challenges</vt:lpstr>
      <vt:lpstr>Project Description</vt:lpstr>
      <vt:lpstr>Design Process</vt:lpstr>
      <vt:lpstr>Product Functionality</vt:lpstr>
      <vt:lpstr>Analysis reports</vt:lpstr>
      <vt:lpstr>Cost estimation</vt:lpstr>
      <vt:lpstr>Relevant doc, images, videos, &amp; Conceptional design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Kathirvel S</dc:creator>
  <cp:lastModifiedBy>Kathirvel S</cp:lastModifiedBy>
  <cp:revision>6</cp:revision>
  <dcterms:created xsi:type="dcterms:W3CDTF">2020-06-16T15:04:21Z</dcterms:created>
  <dcterms:modified xsi:type="dcterms:W3CDTF">2026-03-26T22:25:30Z</dcterms:modified>
</cp:coreProperties>
</file>